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 (delete before you present)" id="{9ce6f4e2-5e0f-4098-15a4-d9f07222646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quad briefing template (present these 5)" id="{87a92b24-9fa0-fe20-538b-73da874c099e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20–30 seconds. Introduce the squad and who built what, then read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Walk the funnel left to right: raw rows minus quarantine minus duplicates equals clean cases. The numbers must add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Edit the flow boxes if your pipeline differs. Be ready to explain any line of the function you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Say the trend in one sentence. Use "associated with," not "caused by." Older cases have had more time to be closed, so be careful comparing decades.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This is the point of the project: the same file gives a very different answer depending on whether you clean it.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ITSS/OPRE 3312  •  MIDTERM PROJECT: THE COLD CASE FILE  •  Fall 2026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MIDTERM PROJECT  •  WEEKS 2–7, ALL OF 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Cold Case File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</a:rPr>
              <a:t>5,000+ messy records spanning 45 years. Clean them, analyze them, and brief us on what they say.</a:t>
            </a:r>
            <a:endParaRPr lang="en-US" sz="2200" dirty="0"/>
          </a:p>
        </p:txBody>
      </p:sp>
      <p:sp>
        <p:nvSpPr>
          <p:cNvPr id="5" name="fact0"/>
          <p:cNvSpPr/>
          <p:nvPr/>
        </p:nvSpPr>
        <p:spPr>
          <a:xfrm>
            <a:off x="548640" y="32004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201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DUE + PRESENT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Wed 10/14, 7 PM</a:t>
            </a:r>
            <a:endParaRPr lang="en-US" sz="1900" dirty="0"/>
          </a:p>
        </p:txBody>
      </p:sp>
      <p:sp>
        <p:nvSpPr>
          <p:cNvPr id="8" name="fact1"/>
          <p:cNvSpPr/>
          <p:nvPr/>
        </p:nvSpPr>
        <p:spPr>
          <a:xfrm>
            <a:off x="3390824" y="32004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3429000"/>
            <a:ext cx="201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SPLIT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Code 30% + Briefing 70%</a:t>
            </a:r>
            <a:endParaRPr lang="en-US" sz="1900" dirty="0"/>
          </a:p>
        </p:txBody>
      </p:sp>
      <p:sp>
        <p:nvSpPr>
          <p:cNvPr id="11" name="fact2"/>
          <p:cNvSpPr/>
          <p:nvPr/>
        </p:nvSpPr>
        <p:spPr>
          <a:xfrm>
            <a:off x="6233008" y="32004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3429000"/>
            <a:ext cx="201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TEAM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Your squad of 4</a:t>
            </a:r>
            <a:endParaRPr lang="en-US" sz="1900" dirty="0"/>
          </a:p>
        </p:txBody>
      </p:sp>
      <p:sp>
        <p:nvSpPr>
          <p:cNvPr id="14" name="fact3"/>
          <p:cNvSpPr/>
          <p:nvPr/>
        </p:nvSpPr>
        <p:spPr>
          <a:xfrm>
            <a:off x="9075191" y="32004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9511" y="3429000"/>
            <a:ext cx="201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WEIGHT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37947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10% of grade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Data file: midterm_cases_raw.csv on eLearning.  Slides 1–10 are the assignment. Slides 11–15 are your briefing template.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Mission: Three Deliverables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The file is fictional but built in the same messy shape as real police exports. Every skill from weeks 2–7 gets used.</a:t>
            </a:r>
            <a:endParaRPr lang="en-US" sz="1500" dirty="0"/>
          </a:p>
        </p:txBody>
      </p:sp>
      <p:sp>
        <p:nvSpPr>
          <p:cNvPr id="4" name="d0"/>
          <p:cNvSpPr/>
          <p:nvPr/>
        </p:nvSpPr>
        <p:spPr>
          <a:xfrm>
            <a:off x="548640" y="1691640"/>
            <a:ext cx="3454298" cy="452628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 DATA</a:t>
            </a:r>
            <a:endParaRPr lang="en-US" sz="1800" dirty="0"/>
          </a:p>
        </p:txBody>
      </p:sp>
      <p:sp>
        <p:nvSpPr>
          <p:cNvPr id="7" name="files0"/>
          <p:cNvSpPr/>
          <p:nvPr/>
        </p:nvSpPr>
        <p:spPr>
          <a:xfrm>
            <a:off x="868680" y="3108960"/>
            <a:ext cx="281421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00400"/>
            <a:ext cx="2448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cases_clean.csv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quarantine.csv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usable case, cleaned and standardized, in the exact format on slide 5. Every row you rejected, with its line number and a reason.</a:t>
            </a:r>
            <a:endParaRPr lang="en-US" sz="1400" dirty="0"/>
          </a:p>
        </p:txBody>
      </p:sp>
      <p:sp>
        <p:nvSpPr>
          <p:cNvPr id="10" name="d1"/>
          <p:cNvSpPr/>
          <p:nvPr/>
        </p:nvSpPr>
        <p:spPr>
          <a:xfrm>
            <a:off x="4368698" y="1691640"/>
            <a:ext cx="3454298" cy="452628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8738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88738" y="265176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</a:t>
            </a:r>
            <a:endParaRPr lang="en-US" sz="1800" dirty="0"/>
          </a:p>
        </p:txBody>
      </p:sp>
      <p:sp>
        <p:nvSpPr>
          <p:cNvPr id="13" name="files1"/>
          <p:cNvSpPr/>
          <p:nvPr/>
        </p:nvSpPr>
        <p:spPr>
          <a:xfrm>
            <a:off x="4688738" y="3108960"/>
            <a:ext cx="281421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1618" y="3200400"/>
            <a:ext cx="2448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case_model.py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clean_cases.py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test_cases.py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report.txt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8738" y="4572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command turns the raw file into the clean files and a report. Tests prove the parser works.</a:t>
            </a:r>
            <a:endParaRPr lang="en-US" sz="1400" dirty="0"/>
          </a:p>
        </p:txBody>
      </p:sp>
      <p:sp>
        <p:nvSpPr>
          <p:cNvPr id="16" name="d2"/>
          <p:cNvSpPr/>
          <p:nvPr/>
        </p:nvSpPr>
        <p:spPr>
          <a:xfrm>
            <a:off x="8188757" y="1691640"/>
            <a:ext cx="3454298" cy="452628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8797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508797" y="265176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BRIEFING</a:t>
            </a:r>
            <a:endParaRPr lang="en-US" sz="1800" dirty="0"/>
          </a:p>
        </p:txBody>
      </p:sp>
      <p:sp>
        <p:nvSpPr>
          <p:cNvPr id="19" name="files2"/>
          <p:cNvSpPr/>
          <p:nvPr/>
        </p:nvSpPr>
        <p:spPr>
          <a:xfrm>
            <a:off x="8508797" y="3108960"/>
            <a:ext cx="281421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91677" y="3200400"/>
            <a:ext cx="2448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slides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minutes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08797" y="4572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template at the back of this deck. What you were handed, how you cleaned it, what the clean data says, and why the cleaning mattered.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Raw File: midterm_cases_raw.csv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9 columns, 5,000+ data rows, incidents from 1981–2025. Open it in VS Code and LOOK at it before you write any code.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606521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Holds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the mess looks like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case_id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Case number, CC-#####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cc-19495   CC 16288   " CC-76856 "   CC81472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victim_name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LAST, Initial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"walker, g"   "  JORDAN, C "   "NAVARRO,  M"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 / F / unknown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  m  Male  female  F  unk  (blank)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 at incident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   " 37 "   unknown   N/A   999   -1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incident_date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Date of incident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2018-03-22   6/7/2000   "July 1, 2022"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address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Street address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used in the analysis. Drop it from the clean file.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3-digit police beat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157   beat 631   Beat 418   B-150   (blank)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Open or closed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OPEN  open  OPN  CLOSED  Closed  CLSD  CLEARED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tip_notes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Free-text tip log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"Caller left callback 214.555.3072"   "cb: (214) 555-4240"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Also in there: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blank lines, the header row repeated mid-file (merged exports), duplicate cases, truncated rows, and impossible dates.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Cleaning Standard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Everyone follows the same rules, so every squad's counts are comparable. Check the rules in this order.</a:t>
            </a:r>
            <a:endParaRPr lang="en-US" sz="1500" dirty="0"/>
          </a:p>
        </p:txBody>
      </p:sp>
      <p:sp>
        <p:nvSpPr>
          <p:cNvPr id="4" name="quar"/>
          <p:cNvSpPr/>
          <p:nvPr/>
        </p:nvSpPr>
        <p:spPr>
          <a:xfrm>
            <a:off x="548640" y="1600200"/>
            <a:ext cx="5364328" cy="4617720"/>
          </a:xfrm>
          <a:prstGeom prst="roundRect">
            <a:avLst>
              <a:gd name="adj" fmla="val 158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QUARANTINE THE ROW (critical field is broken)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field count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24028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row doesn't have exactly 9 fields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case_id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88036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can't be normalized to CC- + 5 digits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date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52044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blank, N/A or unknown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date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16052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one of the 3 formats, or impossible (Feb 30, month 13)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00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date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480060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today, 10/07/2026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status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544068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anything that doesn't map to OPEN or CLOSED</a:t>
            </a:r>
            <a:endParaRPr lang="en-US" sz="1400" dirty="0"/>
          </a:p>
        </p:txBody>
      </p:sp>
      <p:sp>
        <p:nvSpPr>
          <p:cNvPr id="18" name="repair"/>
          <p:cNvSpPr/>
          <p:nvPr/>
        </p:nvSpPr>
        <p:spPr>
          <a:xfrm>
            <a:off x="6278728" y="1600200"/>
            <a:ext cx="5364328" cy="3246120"/>
          </a:xfrm>
          <a:prstGeom prst="roundRect">
            <a:avLst>
              <a:gd name="adj" fmla="val 225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98768" y="178308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REPAIR &amp; KEEP THE ROW (non-critical field)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98768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224028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OPEN, OPN → OPEN;  CLOSED, CLSD, CLEARED → CLOSED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98768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41768" y="274320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strip, collapse spaces, Title Case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41768" y="324612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 / F; anything else → U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98768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74904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whole number 0–110, otherwise leave blank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98768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41768" y="425196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3 digits, otherwise leave blank</a:t>
            </a:r>
            <a:endParaRPr lang="en-US" sz="1400" dirty="0"/>
          </a:p>
        </p:txBody>
      </p:sp>
      <p:sp>
        <p:nvSpPr>
          <p:cNvPr id="30" name="skip"/>
          <p:cNvSpPr/>
          <p:nvPr/>
        </p:nvSpPr>
        <p:spPr>
          <a:xfrm>
            <a:off x="6278728" y="5029200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98768" y="5074920"/>
            <a:ext cx="472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SKIP, don't quarantine: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blank lines and repeated header rows.
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DUPLICATES: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case_id after cleaning → keep the first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Deliverable 1: Exact Output Format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Your clean files get compared against the answer key, so match these columns and formats exactly.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cases_clean.csv  —  sorted by case_id</a:t>
            </a:r>
            <a:endParaRPr lang="en-US" sz="1300" dirty="0"/>
          </a:p>
        </p:txBody>
      </p:sp>
      <p:sp>
        <p:nvSpPr>
          <p:cNvPr id="5" name="cleanfmt"/>
          <p:cNvSpPr/>
          <p:nvPr/>
        </p:nvSpPr>
        <p:spPr>
          <a:xfrm>
            <a:off x="548640" y="196596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10545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case_id,victim_name,sex,age,incident_date,year,beat,status,callback_phone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CC-10003,"Ramirez, K",M,24,1992-06-14,1992,451,CLOSED,214-555-0193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CC-10017,"Okafor, T",F,,2019-11-02,2019,,OPEN,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incident_date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YYYY-MM-DD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873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4-digit year, as its own column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7141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callback_phone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phone number in tip_notes, written as 214-555-1234; blank if there isn't 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83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quarantine.csv  —  one row per rejected line</a:t>
            </a:r>
            <a:endParaRPr lang="en-US" sz="1300" dirty="0"/>
          </a:p>
        </p:txBody>
      </p:sp>
      <p:sp>
        <p:nvSpPr>
          <p:cNvPr id="11" name="quarfmt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line_number,reason,raw_row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412,invalid date,"CC-55210,TATE, R,M,29,2004-02-30,..."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Deliverable 2: The Code Must Show Weeks 2–7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Standard library only (csv, re, datetime). No pandas. Pandas comes later; this is about proving YOU can do it.</a:t>
            </a:r>
            <a:endParaRPr lang="en-US" sz="1500" dirty="0"/>
          </a:p>
        </p:txBody>
      </p:sp>
      <p:sp>
        <p:nvSpPr>
          <p:cNvPr id="4" name="wk0"/>
          <p:cNvSpPr/>
          <p:nvPr/>
        </p:nvSpPr>
        <p:spPr>
          <a:xfrm>
            <a:off x="548640" y="160020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wkb0"/>
          <p:cNvSpPr/>
          <p:nvPr/>
        </p:nvSpPr>
        <p:spPr>
          <a:xfrm>
            <a:off x="777240" y="182880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8308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Strings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13055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strip(), split(), title(), upper(); f-strings in the report</a:t>
            </a:r>
            <a:endParaRPr lang="en-US" sz="1400" dirty="0"/>
          </a:p>
        </p:txBody>
      </p:sp>
      <p:sp>
        <p:nvSpPr>
          <p:cNvPr id="9" name="wk1"/>
          <p:cNvSpPr/>
          <p:nvPr/>
        </p:nvSpPr>
        <p:spPr>
          <a:xfrm>
            <a:off x="6278728" y="160020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wkb1"/>
          <p:cNvSpPr/>
          <p:nvPr/>
        </p:nvSpPr>
        <p:spPr>
          <a:xfrm>
            <a:off x="6507328" y="182880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1828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04608" y="178308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Loops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04608" y="213055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pass over every row, with accumulators for every count</a:t>
            </a:r>
            <a:endParaRPr lang="en-US" sz="1400" dirty="0"/>
          </a:p>
        </p:txBody>
      </p:sp>
      <p:sp>
        <p:nvSpPr>
          <p:cNvPr id="14" name="wk2"/>
          <p:cNvSpPr/>
          <p:nvPr/>
        </p:nvSpPr>
        <p:spPr>
          <a:xfrm>
            <a:off x="548640" y="306324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wkb2"/>
          <p:cNvSpPr/>
          <p:nvPr/>
        </p:nvSpPr>
        <p:spPr>
          <a:xfrm>
            <a:off x="777240" y="329184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918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24612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Sets &amp; dicts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59359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set catches duplicate case_ids; dicts count quarantine reasons, beats and decades</a:t>
            </a:r>
            <a:endParaRPr lang="en-US" sz="1400" dirty="0"/>
          </a:p>
        </p:txBody>
      </p:sp>
      <p:sp>
        <p:nvSpPr>
          <p:cNvPr id="19" name="wk3"/>
          <p:cNvSpPr/>
          <p:nvPr/>
        </p:nvSpPr>
        <p:spPr>
          <a:xfrm>
            <a:off x="6278728" y="306324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wkb3"/>
          <p:cNvSpPr/>
          <p:nvPr/>
        </p:nvSpPr>
        <p:spPr>
          <a:xfrm>
            <a:off x="6507328" y="329184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32918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04608" y="324612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Functions &amp; regex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04608" y="359359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docstringed function per field cleaner; regex for case_id, beat, dates and phones</a:t>
            </a:r>
            <a:endParaRPr lang="en-US" sz="1400" dirty="0"/>
          </a:p>
        </p:txBody>
      </p:sp>
      <p:sp>
        <p:nvSpPr>
          <p:cNvPr id="24" name="wk4"/>
          <p:cNvSpPr/>
          <p:nvPr/>
        </p:nvSpPr>
        <p:spPr>
          <a:xfrm>
            <a:off x="548640" y="452628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wkb4"/>
          <p:cNvSpPr/>
          <p:nvPr/>
        </p:nvSpPr>
        <p:spPr>
          <a:xfrm>
            <a:off x="777240" y="475488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75488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70916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Files, exceptions, tests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05663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csv.reader, try/except ValueError quarantine; test_cases.py with 5+ tests, at least 2 of them failure paths</a:t>
            </a:r>
            <a:endParaRPr lang="en-US" sz="1400" dirty="0"/>
          </a:p>
        </p:txBody>
      </p:sp>
      <p:sp>
        <p:nvSpPr>
          <p:cNvPr id="29" name="wk5"/>
          <p:cNvSpPr/>
          <p:nvPr/>
        </p:nvSpPr>
        <p:spPr>
          <a:xfrm>
            <a:off x="6278728" y="4526280"/>
            <a:ext cx="5364328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wkb5"/>
          <p:cNvSpPr/>
          <p:nvPr/>
        </p:nvSpPr>
        <p:spPr>
          <a:xfrm>
            <a:off x="6507328" y="4754880"/>
            <a:ext cx="86868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7328" y="475488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WK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604608" y="470916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604608" y="5056632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Case class with from_row(), years_unsolved and is_stale; the loader builds Case objects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report.txt Must Answer These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Your code prints these numbers and saves them to report.txt. Your briefing is built from them.</a:t>
            </a:r>
            <a:endParaRPr lang="en-US" sz="1500" dirty="0"/>
          </a:p>
        </p:txBody>
      </p:sp>
      <p:sp>
        <p:nvSpPr>
          <p:cNvPr id="4" name="q0"/>
          <p:cNvSpPr/>
          <p:nvPr/>
        </p:nvSpPr>
        <p:spPr>
          <a:xfrm>
            <a:off x="548640" y="164592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n0"/>
          <p:cNvSpPr/>
          <p:nvPr/>
        </p:nvSpPr>
        <p:spPr>
          <a:xfrm>
            <a:off x="731520" y="17556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4592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rows read, blank lines and headers skipped, rows quarantined by reason, duplicates removed, clean cases</a:t>
            </a:r>
            <a:endParaRPr lang="en-US" sz="1400" dirty="0"/>
          </a:p>
        </p:txBody>
      </p:sp>
      <p:sp>
        <p:nvSpPr>
          <p:cNvPr id="9" name="q1"/>
          <p:cNvSpPr/>
          <p:nvPr/>
        </p:nvSpPr>
        <p:spPr>
          <a:xfrm>
            <a:off x="548640" y="2395728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qn1"/>
          <p:cNvSpPr/>
          <p:nvPr/>
        </p:nvSpPr>
        <p:spPr>
          <a:xfrm>
            <a:off x="731520" y="25054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957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395728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clearance rate (CLOSED ÷ clean cases), and the rate for each decade from the 1980s to the 2020s</a:t>
            </a:r>
            <a:endParaRPr lang="en-US" sz="1400" dirty="0"/>
          </a:p>
        </p:txBody>
      </p:sp>
      <p:sp>
        <p:nvSpPr>
          <p:cNvPr id="14" name="q2"/>
          <p:cNvSpPr/>
          <p:nvPr/>
        </p:nvSpPr>
        <p:spPr>
          <a:xfrm>
            <a:off x="548640" y="3145536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qn2"/>
          <p:cNvSpPr/>
          <p:nvPr/>
        </p:nvSpPr>
        <p:spPr>
          <a:xfrm>
            <a:off x="731520" y="32552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1455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cases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145536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many are stale (open 5+ years)? The 5 oldest open cases</a:t>
            </a:r>
            <a:endParaRPr lang="en-US" sz="1400" dirty="0"/>
          </a:p>
        </p:txBody>
      </p:sp>
      <p:sp>
        <p:nvSpPr>
          <p:cNvPr id="19" name="q3"/>
          <p:cNvSpPr/>
          <p:nvPr/>
        </p:nvSpPr>
        <p:spPr>
          <a:xfrm>
            <a:off x="548640" y="3895344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qn3"/>
          <p:cNvSpPr/>
          <p:nvPr/>
        </p:nvSpPr>
        <p:spPr>
          <a:xfrm>
            <a:off x="731520" y="40050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895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Beats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895344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top 10 beats by open cases, with each beat's clearance rate</a:t>
            </a:r>
            <a:endParaRPr lang="en-US" sz="1400" dirty="0"/>
          </a:p>
        </p:txBody>
      </p:sp>
      <p:sp>
        <p:nvSpPr>
          <p:cNvPr id="24" name="q4"/>
          <p:cNvSpPr/>
          <p:nvPr/>
        </p:nvSpPr>
        <p:spPr>
          <a:xfrm>
            <a:off x="548640" y="4645152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qn4"/>
          <p:cNvSpPr/>
          <p:nvPr/>
        </p:nvSpPr>
        <p:spPr>
          <a:xfrm>
            <a:off x="731520" y="4754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6451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Leads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4645152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% of open cases have a callback phone in the tip notes?</a:t>
            </a:r>
            <a:endParaRPr lang="en-US" sz="1400" dirty="0"/>
          </a:p>
        </p:txBody>
      </p:sp>
      <p:sp>
        <p:nvSpPr>
          <p:cNvPr id="29" name="q5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qn5"/>
          <p:cNvSpPr/>
          <p:nvPr/>
        </p:nvSpPr>
        <p:spPr>
          <a:xfrm>
            <a:off x="731520" y="55046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504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394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Raw vs clean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539496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clearance rate you'd get by counting raw rows where status is exactly "CLOSED". How far off is it?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Work and Submit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One project per squad. Split the work, then review each other's code.</a:t>
            </a:r>
            <a:endParaRPr lang="en-US" sz="1500" dirty="0"/>
          </a:p>
        </p:txBody>
      </p:sp>
      <p:sp>
        <p:nvSpPr>
          <p:cNvPr id="4" name="st0"/>
          <p:cNvSpPr/>
          <p:nvPr/>
        </p:nvSpPr>
        <p:spPr>
          <a:xfrm>
            <a:off x="548640" y="1600200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n0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Look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raw file and find one example of each problem by hand before coding anything.</a:t>
            </a:r>
            <a:endParaRPr lang="en-US" sz="1400" dirty="0"/>
          </a:p>
        </p:txBody>
      </p:sp>
      <p:sp>
        <p:nvSpPr>
          <p:cNvPr id="9" name="st1"/>
          <p:cNvSpPr/>
          <p:nvPr/>
        </p:nvSpPr>
        <p:spPr>
          <a:xfrm>
            <a:off x="6278728" y="1600200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n1"/>
          <p:cNvSpPr/>
          <p:nvPr/>
        </p:nvSpPr>
        <p:spPr>
          <a:xfrm>
            <a:off x="6507328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84568" y="173736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 it up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4568" y="2057400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example: one person on dates, one on case_id/status/beat, one on the Case class and loader, one on tests and the report.</a:t>
            </a:r>
            <a:endParaRPr lang="en-US" sz="1400" dirty="0"/>
          </a:p>
        </p:txBody>
      </p:sp>
      <p:sp>
        <p:nvSpPr>
          <p:cNvPr id="14" name="st2"/>
          <p:cNvSpPr/>
          <p:nvPr/>
        </p:nvSpPr>
        <p:spPr>
          <a:xfrm>
            <a:off x="548640" y="2953512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n2"/>
          <p:cNvSpPr/>
          <p:nvPr/>
        </p:nvSpPr>
        <p:spPr>
          <a:xfrm>
            <a:off x="777240" y="3227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09067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410712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cleaners as functions, build Case.from_row() from them, and run the loader on the whole file.</a:t>
            </a:r>
            <a:endParaRPr lang="en-US" sz="1400" dirty="0"/>
          </a:p>
        </p:txBody>
      </p:sp>
      <p:sp>
        <p:nvSpPr>
          <p:cNvPr id="19" name="st3"/>
          <p:cNvSpPr/>
          <p:nvPr/>
        </p:nvSpPr>
        <p:spPr>
          <a:xfrm>
            <a:off x="6278728" y="2953512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n3"/>
          <p:cNvSpPr/>
          <p:nvPr/>
        </p:nvSpPr>
        <p:spPr>
          <a:xfrm>
            <a:off x="6507328" y="3227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84568" y="309067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84568" y="3410712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 passes. Re-run on a fresh copy of the raw file and get the same numbers.</a:t>
            </a:r>
            <a:endParaRPr lang="en-US" sz="1400" dirty="0"/>
          </a:p>
        </p:txBody>
      </p:sp>
      <p:sp>
        <p:nvSpPr>
          <p:cNvPr id="24" name="st4"/>
          <p:cNvSpPr/>
          <p:nvPr/>
        </p:nvSpPr>
        <p:spPr>
          <a:xfrm>
            <a:off x="548640" y="4306824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n4"/>
          <p:cNvSpPr/>
          <p:nvPr/>
        </p:nvSpPr>
        <p:spPr>
          <a:xfrm>
            <a:off x="777240" y="45811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443984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Brief it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764024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 in the 5 template slides with your report numbers. Rehearse once with a timer.</a:t>
            </a:r>
            <a:endParaRPr lang="en-US" sz="1400" dirty="0"/>
          </a:p>
        </p:txBody>
      </p:sp>
      <p:sp>
        <p:nvSpPr>
          <p:cNvPr id="29" name="st5"/>
          <p:cNvSpPr/>
          <p:nvPr/>
        </p:nvSpPr>
        <p:spPr>
          <a:xfrm>
            <a:off x="6278728" y="4306824"/>
            <a:ext cx="536432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n5"/>
          <p:cNvSpPr/>
          <p:nvPr/>
        </p:nvSpPr>
        <p:spPr>
          <a:xfrm>
            <a:off x="6507328" y="458114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73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284568" y="4443984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Submit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84568" y="4764024"/>
            <a:ext cx="417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member uploads to eLearning before 7:00 PM on 10/14: SquadName_midterm.zip (code + CSVs + report.txt) and SquadName_briefing.pptx.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House rule: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Claude is allowed, but any member may be asked to explain any line of the code during Q&amp;A.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Grading Rubric — 100 Points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640080"/>
                <a:gridCol w="588233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we check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Full credit looks like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4904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 Code submission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 data is correct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 files match the cleaning standard, the exact format and the answer-key counts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Runs end to end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command: raw file in, three files out, zero crashes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Uses weeks 2–7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Case class with from_row, cleaner functions, regex, a set, dicts, try/except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5+ pytest tests, all green, at least 2 failure paths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row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 Presentation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numbers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Real figures from report.txt on every slide; the intake funnel adds up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How we cleaned it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Clear pipeline, real code shown, one judgment call explained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What the clean data says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Decades, stale cases, beats, callbacks; one takeaway in “associated with” language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Why the cleaning mattered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Raw vs clean clearance rate, and which problems moved it, in which direction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Slides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Template followed, readable, no walls of text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Delivery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Every member presents; 5:00 ± 0:30; talks to the room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Q&amp;A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Any member can explain any result or line of code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note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8064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Scoring levels for every criterion are in the syllabus.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 the briefing without a documented excuse and you get 0 for the presentation portion.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Briefing Starts on the Next Slide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Delete this slide and everything before it. Replace every [bracketed prompt] with your squad's real numbers from report.txt.</a:t>
            </a:r>
            <a:endParaRPr lang="en-US" sz="2000" dirty="0"/>
          </a:p>
        </p:txBody>
      </p:sp>
      <p:sp>
        <p:nvSpPr>
          <p:cNvPr id="4" name="map0"/>
          <p:cNvSpPr/>
          <p:nvPr/>
        </p:nvSpPr>
        <p:spPr>
          <a:xfrm>
            <a:off x="548640" y="3749040"/>
            <a:ext cx="2036003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48056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Title + squad</a:t>
            </a:r>
            <a:endParaRPr lang="en-US" sz="1600" dirty="0"/>
          </a:p>
        </p:txBody>
      </p:sp>
      <p:sp>
        <p:nvSpPr>
          <p:cNvPr id="7" name="map1"/>
          <p:cNvSpPr/>
          <p:nvPr/>
        </p:nvSpPr>
        <p:spPr>
          <a:xfrm>
            <a:off x="2813243" y="3749040"/>
            <a:ext cx="2036003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1843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041843" y="448056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were handed</a:t>
            </a:r>
            <a:endParaRPr lang="en-US" sz="1600" dirty="0"/>
          </a:p>
        </p:txBody>
      </p:sp>
      <p:sp>
        <p:nvSpPr>
          <p:cNvPr id="10" name="map2"/>
          <p:cNvSpPr/>
          <p:nvPr/>
        </p:nvSpPr>
        <p:spPr>
          <a:xfrm>
            <a:off x="5077846" y="3749040"/>
            <a:ext cx="2036003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6446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306446" y="448056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we cleaned it</a:t>
            </a:r>
            <a:endParaRPr lang="en-US" sz="1600" dirty="0"/>
          </a:p>
        </p:txBody>
      </p:sp>
      <p:sp>
        <p:nvSpPr>
          <p:cNvPr id="13" name="map3"/>
          <p:cNvSpPr/>
          <p:nvPr/>
        </p:nvSpPr>
        <p:spPr>
          <a:xfrm>
            <a:off x="7342449" y="3749040"/>
            <a:ext cx="2036003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049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571049" y="448056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data says</a:t>
            </a:r>
            <a:endParaRPr lang="en-US" sz="1600" dirty="0"/>
          </a:p>
        </p:txBody>
      </p:sp>
      <p:sp>
        <p:nvSpPr>
          <p:cNvPr id="16" name="map4"/>
          <p:cNvSpPr/>
          <p:nvPr/>
        </p:nvSpPr>
        <p:spPr>
          <a:xfrm>
            <a:off x="9607052" y="3749040"/>
            <a:ext cx="2036003" cy="1463040"/>
          </a:xfrm>
          <a:prstGeom prst="roundRect">
            <a:avLst>
              <a:gd name="adj" fmla="val 5000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35652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835652" y="448056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it mattered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≈ 1 minute per slide  •  5:00 total  •  every member presents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MIDTERM BRIEFING  •  ITSS/OPRE 3312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[Squad Name]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</a:rPr>
              <a:t>The Cold Case File: what 45 years of messy records actually say</a:t>
            </a:r>
            <a:endParaRPr lang="en-US" sz="2200" dirty="0"/>
          </a:p>
        </p:txBody>
      </p:sp>
      <p:sp>
        <p:nvSpPr>
          <p:cNvPr id="5" name="m0"/>
          <p:cNvSpPr/>
          <p:nvPr/>
        </p:nvSpPr>
        <p:spPr>
          <a:xfrm>
            <a:off x="548640" y="320040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[Member 1 name]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[What they built]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Presents: [slide #]</a:t>
            </a:r>
            <a:endParaRPr lang="en-US" sz="1400" dirty="0"/>
          </a:p>
        </p:txBody>
      </p:sp>
      <p:sp>
        <p:nvSpPr>
          <p:cNvPr id="9" name="m1"/>
          <p:cNvSpPr/>
          <p:nvPr/>
        </p:nvSpPr>
        <p:spPr>
          <a:xfrm>
            <a:off x="3390824" y="320040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3429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[Member 2 name]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38862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[What they built]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43434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Presents: [slide #]</a:t>
            </a:r>
            <a:endParaRPr lang="en-US" sz="1400" dirty="0"/>
          </a:p>
        </p:txBody>
      </p:sp>
      <p:sp>
        <p:nvSpPr>
          <p:cNvPr id="13" name="m2"/>
          <p:cNvSpPr/>
          <p:nvPr/>
        </p:nvSpPr>
        <p:spPr>
          <a:xfrm>
            <a:off x="6233008" y="320040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3429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[Member 3 name]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38862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[What they built]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43434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Presents: [slide #]</a:t>
            </a:r>
            <a:endParaRPr lang="en-US" sz="1400" dirty="0"/>
          </a:p>
        </p:txBody>
      </p:sp>
      <p:sp>
        <p:nvSpPr>
          <p:cNvPr id="17" name="m3"/>
          <p:cNvSpPr/>
          <p:nvPr/>
        </p:nvSpPr>
        <p:spPr>
          <a:xfrm>
            <a:off x="9075191" y="320040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49511" y="34290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[Member 4 name]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38862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[What they built]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49511" y="43434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Presents: [slide #]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[Your headline in one sentence, e.g. "The raw file said X; after cleaning, the real answer is Y."]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Were Handed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by: </a:t>
            </a:r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[name]</a:t>
            </a:r>
            <a:endParaRPr lang="en-US" sz="1500" dirty="0"/>
          </a:p>
        </p:txBody>
      </p:sp>
      <p:sp>
        <p:nvSpPr>
          <p:cNvPr id="4" name="stat0"/>
          <p:cNvSpPr/>
          <p:nvPr/>
        </p:nvSpPr>
        <p:spPr>
          <a:xfrm>
            <a:off x="548640" y="1600200"/>
            <a:ext cx="239641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8477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[####]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1847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raw data rows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990774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−</a:t>
            </a:r>
            <a:endParaRPr lang="en-US" sz="3000" dirty="0"/>
          </a:p>
        </p:txBody>
      </p:sp>
      <p:sp>
        <p:nvSpPr>
          <p:cNvPr id="8" name="stat1"/>
          <p:cNvSpPr/>
          <p:nvPr/>
        </p:nvSpPr>
        <p:spPr>
          <a:xfrm>
            <a:off x="3447974" y="1600200"/>
            <a:ext cx="239641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22294" y="1737360"/>
            <a:ext cx="18477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[###]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22294" y="2560320"/>
            <a:ext cx="1847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quarantined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90108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−</a:t>
            </a:r>
            <a:endParaRPr lang="en-US" sz="3000" dirty="0"/>
          </a:p>
        </p:txBody>
      </p:sp>
      <p:sp>
        <p:nvSpPr>
          <p:cNvPr id="12" name="stat2"/>
          <p:cNvSpPr/>
          <p:nvPr/>
        </p:nvSpPr>
        <p:spPr>
          <a:xfrm>
            <a:off x="6347308" y="1600200"/>
            <a:ext cx="239641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1628" y="1737360"/>
            <a:ext cx="18477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[###]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621628" y="2560320"/>
            <a:ext cx="1847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duplicates removed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89441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=</a:t>
            </a:r>
            <a:endParaRPr lang="en-US" sz="3000" dirty="0"/>
          </a:p>
        </p:txBody>
      </p:sp>
      <p:sp>
        <p:nvSpPr>
          <p:cNvPr id="16" name="stat3"/>
          <p:cNvSpPr/>
          <p:nvPr/>
        </p:nvSpPr>
        <p:spPr>
          <a:xfrm>
            <a:off x="9246641" y="1600200"/>
            <a:ext cx="2396414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20961" y="1737360"/>
            <a:ext cx="18477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[####]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520961" y="2560320"/>
            <a:ext cx="1847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clean cases</a:t>
            </a:r>
            <a:endParaRPr lang="en-US" sz="1500" dirty="0"/>
          </a:p>
        </p:txBody>
      </p:sp>
      <p:sp>
        <p:nvSpPr>
          <p:cNvPr id="19" name="reasons"/>
          <p:cNvSpPr/>
          <p:nvPr/>
        </p:nvSpPr>
        <p:spPr>
          <a:xfrm>
            <a:off x="548640" y="3383280"/>
            <a:ext cx="5120640" cy="2880360"/>
          </a:xfrm>
          <a:prstGeom prst="roundRect">
            <a:avLst>
              <a:gd name="adj" fmla="val 254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WHY ROWS WERE QUARANTINED</a:t>
            </a:r>
            <a:endParaRPr lang="en-US" sz="1300" dirty="0"/>
          </a:p>
        </p:txBody>
      </p:sp>
      <p:sp>
        <p:nvSpPr>
          <p:cNvPr id="21" name="Text 1"/>
          <p:cNvSpPr txBox="1"/>
          <p:nvPr/>
        </p:nvSpPr>
        <p:spPr>
          <a:xfrm>
            <a:off x="822960" y="39319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[reason: count]</a:t>
            </a:r>
            <a:endParaRPr lang="en-US" sz="1500" dirty="0"/>
          </a:p>
        </p:txBody>
      </p:sp>
      <p:sp>
        <p:nvSpPr>
          <p:cNvPr id="22" name="ugly"/>
          <p:cNvSpPr/>
          <p:nvPr/>
        </p:nvSpPr>
        <p:spPr>
          <a:xfrm>
            <a:off x="6035040" y="3383280"/>
            <a:ext cx="5608015" cy="2880360"/>
          </a:xfrm>
          <a:prstGeom prst="roundRect">
            <a:avLst>
              <a:gd name="adj" fmla="val 2540"/>
            </a:avLst>
          </a:prstGeom>
          <a:solidFill>
            <a:srgbClr val="F0F0EE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309360" y="352044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THE UGLIEST ROW WE FOUND</a:t>
            </a:r>
            <a:endParaRPr lang="en-US" sz="1300" dirty="0"/>
          </a:p>
        </p:txBody>
      </p:sp>
      <p:sp>
        <p:nvSpPr>
          <p:cNvPr id="24" name="Text 1"/>
          <p:cNvSpPr txBox="1"/>
          <p:nvPr/>
        </p:nvSpPr>
        <p:spPr>
          <a:xfrm>
            <a:off x="6309360" y="4023360"/>
            <a:ext cx="5059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[Paste one real raw row and one sentence on what was wrong with it]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Cleaned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by: </a:t>
            </a:r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[name]</a:t>
            </a:r>
            <a:endParaRPr lang="en-US" sz="1500" dirty="0"/>
          </a:p>
        </p:txBody>
      </p:sp>
      <p:sp>
        <p:nvSpPr>
          <p:cNvPr id="4" name="flow0"/>
          <p:cNvSpPr/>
          <p:nvPr/>
        </p:nvSpPr>
        <p:spPr>
          <a:xfrm>
            <a:off x="548640" y="1645920"/>
            <a:ext cx="1962851" cy="1234440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6885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csv.reader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loads the file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11491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flow1"/>
          <p:cNvSpPr/>
          <p:nvPr/>
        </p:nvSpPr>
        <p:spPr>
          <a:xfrm>
            <a:off x="2831531" y="1645920"/>
            <a:ext cx="1962851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1645920"/>
            <a:ext cx="16885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Case.from_row()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cleans each field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94382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flow2"/>
          <p:cNvSpPr/>
          <p:nvPr/>
        </p:nvSpPr>
        <p:spPr>
          <a:xfrm>
            <a:off x="5114422" y="1645920"/>
            <a:ext cx="1962851" cy="1234440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1582" y="1645920"/>
            <a:ext cx="16885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try/except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quarantines bad rows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7273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flow3"/>
          <p:cNvSpPr/>
          <p:nvPr/>
        </p:nvSpPr>
        <p:spPr>
          <a:xfrm>
            <a:off x="7397313" y="1645920"/>
            <a:ext cx="1962851" cy="1234440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473" y="1645920"/>
            <a:ext cx="16885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set of case_ids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drops duplicates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60164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flow4"/>
          <p:cNvSpPr/>
          <p:nvPr/>
        </p:nvSpPr>
        <p:spPr>
          <a:xfrm>
            <a:off x="9680204" y="1645920"/>
            <a:ext cx="1962851" cy="1234440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17364" y="1645920"/>
            <a:ext cx="168853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writer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saves 3 output files</a:t>
            </a:r>
            <a:endParaRPr lang="en-US" sz="1400" dirty="0"/>
          </a:p>
        </p:txBody>
      </p:sp>
      <p:sp>
        <p:nvSpPr>
          <p:cNvPr id="18" name="code"/>
          <p:cNvSpPr/>
          <p:nvPr/>
        </p:nvSpPr>
        <p:spPr>
          <a:xfrm>
            <a:off x="548640" y="315468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0F0EE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22960" y="3291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OUR PROUDEST FUNCTION</a:t>
            </a:r>
            <a:endParaRPr lang="en-US" sz="1300" dirty="0"/>
          </a:p>
        </p:txBody>
      </p:sp>
      <p:sp>
        <p:nvSpPr>
          <p:cNvPr id="20" name="Text 1"/>
          <p:cNvSpPr txBox="1"/>
          <p:nvPr/>
        </p:nvSpPr>
        <p:spPr>
          <a:xfrm>
            <a:off x="822960" y="38404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[Paste the 6–10 lines you're proudest of, e.g. your date parser or phone regex]</a:t>
            </a:r>
            <a:endParaRPr lang="en-US" sz="1500" dirty="0"/>
          </a:p>
        </p:txBody>
      </p:sp>
      <p:sp>
        <p:nvSpPr>
          <p:cNvPr id="21" name="tests"/>
          <p:cNvSpPr/>
          <p:nvPr/>
        </p:nvSpPr>
        <p:spPr>
          <a:xfrm>
            <a:off x="6675120" y="3154680"/>
            <a:ext cx="4967935" cy="1417320"/>
          </a:xfrm>
          <a:prstGeom prst="roundRect">
            <a:avLst>
              <a:gd name="adj" fmla="val 516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3291840"/>
            <a:ext cx="4419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TESTS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657600"/>
            <a:ext cx="4419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 →  [N] passed</a:t>
            </a:r>
            <a:endParaRPr lang="en-US" sz="1800" dirty="0"/>
          </a:p>
        </p:txBody>
      </p:sp>
      <p:sp>
        <p:nvSpPr>
          <p:cNvPr id="24" name="Text 1"/>
          <p:cNvSpPr txBox="1"/>
          <p:nvPr/>
        </p:nvSpPr>
        <p:spPr>
          <a:xfrm>
            <a:off x="6949440" y="4114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[One failure path you test for]</a:t>
            </a:r>
            <a:endParaRPr lang="en-US" sz="1400" dirty="0"/>
          </a:p>
        </p:txBody>
      </p:sp>
      <p:sp>
        <p:nvSpPr>
          <p:cNvPr id="25" name="decision"/>
          <p:cNvSpPr/>
          <p:nvPr/>
        </p:nvSpPr>
        <p:spPr>
          <a:xfrm>
            <a:off x="6675120" y="4754880"/>
            <a:ext cx="4967935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892040"/>
            <a:ext cx="4419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 JUDGMENT CALL WE MADE</a:t>
            </a:r>
            <a:endParaRPr lang="en-US" sz="1300" dirty="0"/>
          </a:p>
        </p:txBody>
      </p:sp>
      <p:sp>
        <p:nvSpPr>
          <p:cNvPr id="27" name="Text 1"/>
          <p:cNvSpPr txBox="1"/>
          <p:nvPr/>
        </p:nvSpPr>
        <p:spPr>
          <a:xfrm>
            <a:off x="6949440" y="5257800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[A messy case the rules didn't make obvious, and how you handled it]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Clean Data Says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by: </a:t>
            </a:r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[name]</a:t>
            </a:r>
            <a:endParaRPr lang="en-US" sz="1500" dirty="0"/>
          </a:p>
        </p:txBody>
      </p:sp>
      <p:sp>
        <p:nvSpPr>
          <p:cNvPr id="4" name="chart"/>
          <p:cNvSpPr/>
          <p:nvPr/>
        </p:nvSpPr>
        <p:spPr>
          <a:xfrm>
            <a:off x="548640" y="160020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F0F0EE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CLEARANCE RATE BY DECADE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22960" y="219456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[A table or bar chart, 1980s → 2020s. An Excel chart pasted in is fine.]</a:t>
            </a:r>
            <a:endParaRPr lang="en-US" sz="1500" dirty="0"/>
          </a:p>
        </p:txBody>
      </p:sp>
      <p:sp>
        <p:nvSpPr>
          <p:cNvPr id="7" name="cs0"/>
          <p:cNvSpPr/>
          <p:nvPr/>
        </p:nvSpPr>
        <p:spPr>
          <a:xfrm>
            <a:off x="7315200" y="1600200"/>
            <a:ext cx="4327855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60020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[##.#%]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1600200"/>
            <a:ext cx="1904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clearance rate</a:t>
            </a:r>
            <a:endParaRPr lang="en-US" sz="1400" dirty="0"/>
          </a:p>
        </p:txBody>
      </p:sp>
      <p:sp>
        <p:nvSpPr>
          <p:cNvPr id="10" name="cs1"/>
          <p:cNvSpPr/>
          <p:nvPr/>
        </p:nvSpPr>
        <p:spPr>
          <a:xfrm>
            <a:off x="7315200" y="2587752"/>
            <a:ext cx="4327855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5877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[####]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0" y="2587752"/>
            <a:ext cx="1904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stale open cases (5+ yrs)</a:t>
            </a:r>
            <a:endParaRPr lang="en-US" sz="1400" dirty="0"/>
          </a:p>
        </p:txBody>
      </p:sp>
      <p:sp>
        <p:nvSpPr>
          <p:cNvPr id="13" name="cs2"/>
          <p:cNvSpPr/>
          <p:nvPr/>
        </p:nvSpPr>
        <p:spPr>
          <a:xfrm>
            <a:off x="7315200" y="3575304"/>
            <a:ext cx="4327855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57530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[##%]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3575304"/>
            <a:ext cx="1904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open cases have a callback</a:t>
            </a:r>
            <a:endParaRPr lang="en-US" sz="1400" dirty="0"/>
          </a:p>
        </p:txBody>
      </p:sp>
      <p:sp>
        <p:nvSpPr>
          <p:cNvPr id="16" name="beats"/>
          <p:cNvSpPr/>
          <p:nvPr/>
        </p:nvSpPr>
        <p:spPr>
          <a:xfrm>
            <a:off x="7315200" y="4572000"/>
            <a:ext cx="4327855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4681728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HARDEST-HIT BEATS</a:t>
            </a:r>
            <a:endParaRPr lang="en-US" sz="1300" dirty="0"/>
          </a:p>
        </p:txBody>
      </p:sp>
      <p:sp>
        <p:nvSpPr>
          <p:cNvPr id="18" name="Text 1"/>
          <p:cNvSpPr txBox="1"/>
          <p:nvPr/>
        </p:nvSpPr>
        <p:spPr>
          <a:xfrm>
            <a:off x="7589520" y="5029200"/>
            <a:ext cx="3779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[Top 3 beats by open cases, each with its clearance rate. One sentence on the pattern.]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7453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Why the Cleaning Mattered</a:t>
            </a:r>
            <a:endParaRPr lang="en-US" sz="4000" dirty="0"/>
          </a:p>
        </p:txBody>
      </p:sp>
      <p:sp>
        <p:nvSpPr>
          <p:cNvPr id="3" name="rv0"/>
          <p:cNvSpPr/>
          <p:nvPr/>
        </p:nvSpPr>
        <p:spPr>
          <a:xfrm>
            <a:off x="548640" y="2057400"/>
            <a:ext cx="4998568" cy="2011680"/>
          </a:xfrm>
          <a:prstGeom prst="roundRect">
            <a:avLst>
              <a:gd name="adj" fmla="val 3636"/>
            </a:avLst>
          </a:prstGeom>
          <a:solidFill>
            <a:srgbClr val="145A1E"/>
          </a:solidFill>
          <a:ln w="12700">
            <a:solidFill>
              <a:srgbClr val="145A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240280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RAW FILE, TAKEN AT FACE VALUE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[##.#%]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clearance rate</a:t>
            </a:r>
            <a:endParaRPr lang="en-US" sz="1500" dirty="0"/>
          </a:p>
        </p:txBody>
      </p:sp>
      <p:sp>
        <p:nvSpPr>
          <p:cNvPr id="7" name="rv1"/>
          <p:cNvSpPr/>
          <p:nvPr/>
        </p:nvSpPr>
        <p:spPr>
          <a:xfrm>
            <a:off x="6644488" y="2057400"/>
            <a:ext cx="4998568" cy="2011680"/>
          </a:xfrm>
          <a:prstGeom prst="roundRect">
            <a:avLst>
              <a:gd name="adj" fmla="val 3636"/>
            </a:avLst>
          </a:prstGeom>
          <a:solidFill>
            <a:srgbClr val="0F4716"/>
          </a:solidFill>
          <a:ln w="12700">
            <a:solidFill>
              <a:srgbClr val="0F47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64528" y="2240280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AFTER OUR PIPELINE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64528" y="26060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[##.#%]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964528" y="35204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clearance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47208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→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[Why the raw number was wrong: which problems pushed it, and in which direction]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071055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Presented by: [name]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llas Clearance Project">
  <a:themeElements>
    <a:clrScheme name="Dallas Clearance Project">
      <a:dk1>
        <a:srgbClr val="262626"/>
      </a:dk1>
      <a:lt1>
        <a:srgbClr val="FFFFFF"/>
      </a:lt1>
      <a:dk2>
        <a:srgbClr val="196B24"/>
      </a:dk2>
      <a:lt2>
        <a:srgbClr val="F5F5F5"/>
      </a:lt2>
      <a:accent1>
        <a:srgbClr val="196B24"/>
      </a:accent1>
      <a:accent2>
        <a:srgbClr val="E97132"/>
      </a:accent2>
      <a:accent3>
        <a:srgbClr val="4EA72E"/>
      </a:accent3>
      <a:accent4>
        <a:srgbClr val="D3ECC4"/>
      </a:accent4>
      <a:accent5>
        <a:srgbClr val="FDE4D6"/>
      </a:accent5>
      <a:accent6>
        <a:srgbClr val="595959"/>
      </a:accent6>
      <a:hlink>
        <a:srgbClr val="196B24"/>
      </a:hlink>
      <a:folHlink>
        <a:srgbClr val="595959"/>
      </a:folHlink>
    </a:clrScheme>
    <a:fontScheme name="Dallas Clearance Proj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Project — The Cold Case File</dc:title>
  <dc:subject>PptxGenJS Presentation</dc:subject>
  <dc:creator>Chris Franson</dc:creator>
  <cp:lastModifiedBy>Chris Franson</cp:lastModifiedBy>
  <cp:revision>1</cp:revision>
  <dcterms:created xsi:type="dcterms:W3CDTF">2026-10-07T22:49:31Z</dcterms:created>
  <dcterms:modified xsi:type="dcterms:W3CDTF">2026-10-07T22:49:31Z</dcterms:modified>
</cp:coreProperties>
</file>